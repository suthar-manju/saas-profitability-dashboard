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2" r:id="rId4"/>
    <p:sldId id="263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4A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21T08:27:27.75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0,'1'15,"1"-1,0 0,1 0,10 25,-1 2,16 127,-23-125,1-1,3 1,23 69,-26-93,0 0,-1 0,-1 0,-1 1,1 20,-4 98,1 2,15-31,-5-45,-2-8,0-3,3 90,-12-121,2 0,0-1,2 1,0-1,1 0,15 38,-15-45,-1 1,0 0,-1 0,-1 0,1 17,-4 80,0-56,-3 8,-2 0,-15 63,1-10,18-88,-2 17,4-43,-1-1,1 1,-1-1,0 1,0-1,0 1,0-1,0 1,0-1,0 0,-4 5,5-7,-1 0,1 0,-1 0,1 0,0-1,-1 1,1 0,-1 0,1 0,0 0,-1 0,1 0,0-1,-1 1,1 0,0 0,-1 0,1-1,0 1,-1 0,1-1,0 1,0 0,-1-1,1 1,0 0,0-1,0 1,-1 0,1-1,0 1,0 0,0-1,0 1,0-1,0 1,0 0,0-1,0 1,0-1,0 0,0 1,-3-15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21T08:27:28.95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21T08:27:29.95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21T08:27:30.11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21T08:27:30.30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21T08:27:33.40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423 3714,'2'29,"1"-1,2 0,1 0,1-1,2 0,18 42,7 26,85 320,2 8,86 332,-149-413,-32-157,-7-41,5 33,-16-114,-3 0,-6 120,-1-75,4 16,-5 117,-10-158,7-56,-2 35,-20 137,1-4,17-99,-37 151,28-167,3 1,-9 154,27 348,1-536,2-1,15 68,4 33,-15 54,-1-24,26 271,-26-357,-4 0,-11 123,2-170,-2 0,-1-1,-3-1,-1 0,-2 0,-2-1,-21 39,-62 128,-6 10,101-210,0 0,-1-1,0 0,-1 0,0 0,0-1,0 0,-1 0,0 0,0-1,0 0,-1 0,-9 4,12-8,1 1,-1-1,1 1,-1-1,1-1,-1 1,0-1,1 1,-1-1,0-1,0 1,1-1,-1 0,1 0,-1 0,1 0,-1-1,1 0,-1 0,1 0,0 0,0-1,0 1,1-1,-1 0,-3-4,-23-24,1-1,2-1,1-2,-29-52,-68-163,87 160,3-3,5 0,4-2,-20-170,27 69,11-277,27 136,28-62,275-1265,177 36,-5 518,112 63,198-102,-740 1064,457-569,-509 637,2-3,1 1,1 1,0 1,30-22,-45 37,0 0,1 1,0-1,-1 1,1-1,-1 1,8 0,-11 0,1 1,-1 0,1 0,0 0,-1 0,1 0,0 0,-1 0,1 1,0-1,-1 0,1 0,-1 0,1 1,0-1,-1 0,1 1,-1-1,1 0,0 2,0-2,-1 1,0 0,0 0,1 0,-1 0,0-1,0 1,0 0,0 0,0 0,0 0,0 0,0-1,0 1,-1 0,1 0,0 0,0 0,-1-1,1 1,-1 1,-5 8,0 0,0-1,-1 1,0-1,0-1,-1 1,-11 8,-16 18,-178 216,61-67,-682 791,406-454,360-437,-107 179,143-206,3 2,3 1,2 1,-22 88,17-24,5 1,5 1,-3 189,22-249,3-1,3 1,3-1,26 97,75 169,-46-145,-28-81,59 199,-81-248,-2 1,-3 0,2 87,-11-77,-3-1,-3 0,-3 0,-2 0,-4-1,-30 84,-48 88,75-200,-1-2,-2 0,-1-1,-30 35,49-67,0 1,0-1,0 0,0 0,0 0,-1 0,1-1,-1 1,0-1,0 0,1 0,-2 0,1-1,0 0,0 1,-6 0,6-2,0-1,-1 1,1-1,0 1,0-1,0 0,-1-1,1 1,0-1,0 0,1 0,-1 0,0 0,1-1,-1 1,-3-5,-9-7,0-2,1 0,0-1,-22-36,-40-83,74 129,-80-165,9-3,7-3,8-3,-60-316,71 197,14-3,6-368,32 432,12 1,9 0,11 2,11 1,9 3,11 3,133-310,-142 410,5 2,6 3,5 4,96-121,-45 94,6 6,175-146,328-212,-304 262,10 15,417-202,-667 381,139-46,-184 75,2 2,0 2,0 3,0 1,57 1,167 13,22 1,-251-9,217-6,-186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21T08:27:35.95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318 1957,'-195'-686,"193"681,-73-314,57 226,-8-138,25 174,2 0,3 0,2 0,27-105,-27 127,0-1,0-39,-2 24,3 23,-1 21,1 19,-2 31,-4-18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21T08:27:37.61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21T08:27:38.21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21T08:27:38.40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21T08:27:38.93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3128,'7'-22,"1"1,1-1,0 2,2-1,17-24,1-5,401-651,-144 243,-36 87,-87 115,-92 137,-71 118,249-385,-182 293,4 4,87-86,-126 140,53-75,-4 3,-67 92,-1 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21T08:27:39.41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F289CA-6341-4A58-A2CA-A26D004C230B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2F676E-4EA2-475E-83D3-DC3CB44BBB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0561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BEB2B-8CC6-4FF4-E2E7-27DB500578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74368A-BC1B-4020-70E1-78EC6471F0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11C40-165F-F80F-37DD-C03137429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C990F-BBFA-4939-9299-D290B7CB69EB}" type="datetime1">
              <a:rPr lang="en-IN" smtClean="0"/>
              <a:t>22-10-2026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4EC5D-CE0D-04E6-75EE-215699109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67B8E-D7C0-E529-76E0-F98E2C87F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ABAB0-7112-4815-A879-0923CC5DDA3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4738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269EA-E236-5950-A95B-5DA95F3F0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B45A0-A090-DD69-0598-6C46945F9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AC582-47C4-DEB4-2AD7-F54D27B23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6FE7C-AF98-4F20-8200-AAA40182CD54}" type="datetime1">
              <a:rPr lang="en-IN" smtClean="0"/>
              <a:t>22-10-2026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1776F-480F-433D-9B6A-8A4C65DAB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C36B9-CF0A-28D6-D86F-8B2E81747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ABAB0-7112-4815-A879-0923CC5DDA3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2619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A331C-B152-1840-98CC-7327DDB13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7C7749-CF55-D636-5898-539C820FD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43A77-5AC5-9188-5DB2-F46AA6E55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2E7A2-9267-49A2-905D-1ED8B6438B53}" type="datetime1">
              <a:rPr lang="en-IN" smtClean="0"/>
              <a:t>22-10-2026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1346-6D79-CA35-48E6-6A45C33C3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40423-8608-9B91-9BD8-DE4C7138D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ABAB0-7112-4815-A879-0923CC5DDA3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4540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87DE1-D02B-A107-3749-A46E43261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184E1-3E51-3749-E255-21A23507AB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D5F6E8-08DD-753B-EF24-156137A579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FA6C15-B87A-8A68-1FE9-2027A6FDF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09DAD-3AE0-4095-8DE5-C868677CC988}" type="datetime1">
              <a:rPr lang="en-IN" smtClean="0"/>
              <a:t>22-10-2026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049D09-B0EF-FAAA-98D8-BA241CC70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073A36-175D-2C2C-2C36-AB79818A9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ABAB0-7112-4815-A879-0923CC5DDA3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3448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40850-DBFA-9741-20FC-CA6F3C1D2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FDF96-33A3-52B9-C1EA-44E3EF65D9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D4E0F9-0855-ECBE-F329-BE3872516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0D7FDE-AD87-8453-A67C-B690076306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DAE6BA-D290-4359-744B-F4B73A6353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183024-93D9-BC28-E7FC-29A819501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6CE83-628E-4D68-BE44-3C1594395B8D}" type="datetime1">
              <a:rPr lang="en-IN" smtClean="0"/>
              <a:t>22-10-2026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8950AC-E82D-D5A3-0F6F-B7F0B8196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0FF73B-25D6-0DBC-85F3-3E24A8D55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ABAB0-7112-4815-A879-0923CC5DDA3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9330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35995-05CA-7C65-08F1-C9E0D6C2A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214C2-3856-EF2F-9D99-B86142A45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6716C-83AB-4F75-A144-3AD7FCDC3D5D}" type="datetime1">
              <a:rPr lang="en-IN" smtClean="0"/>
              <a:t>22-10-2026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E456C7-FED5-65EA-E2FC-2B9753C6A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83A327-6306-5182-02D9-9CE6012C7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ABAB0-7112-4815-A879-0923CC5DDA3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4983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B40D2D-2841-975C-8F62-30E04EEB1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2CFC4-65CF-4664-B974-59EACDC5F4D7}" type="datetime1">
              <a:rPr lang="en-IN" smtClean="0"/>
              <a:t>22-10-2026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9CDAFB-0A8E-5B8E-5478-CDEB0CB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03B2CC-D238-8235-552A-9C08DD868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ABAB0-7112-4815-A879-0923CC5DDA3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4463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2044E-8A44-6009-D522-533B80A91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16364-D8C1-3D8B-8328-EB5FA53A05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7F10C7-DBE4-16AF-7675-98D97C95AF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00BF85-E509-801D-C221-E4010D0DD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8CB4B-86C1-487E-8F4B-4E34E94E88D2}" type="datetime1">
              <a:rPr lang="en-IN" smtClean="0"/>
              <a:t>22-10-2026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6486D2-846B-F6AF-45D0-45B2C2756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B61C9A-8357-CA3B-30C9-A956F0AA7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ABAB0-7112-4815-A879-0923CC5DDA3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894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91A68-A347-2E9A-69CD-355A669CF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3E25DA-1B8A-65DD-01FC-69DC31D63F8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697B85-13FA-CF0B-3070-2B2233C48E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509E88-FDEA-EADF-EFC1-2C5DC3ABE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C9DEE-3D97-4FE3-8756-4BC27453AA8D}" type="datetime1">
              <a:rPr lang="en-IN" smtClean="0"/>
              <a:t>22-10-2026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4D2858-4E02-C46C-56F4-FBAF457F7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75D4AC-231F-A903-8158-F0228298E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ABAB0-7112-4815-A879-0923CC5DDA3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8530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9D322-DFF7-DB50-3B10-38C4AC064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E4E8B5-693D-9A81-2462-8886F43D8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EE21F-E67C-8BDE-8920-5AA985872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3D3CB-C120-4F25-B1FA-AF42B622CCFC}" type="datetime1">
              <a:rPr lang="en-IN" smtClean="0"/>
              <a:t>22-10-2026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D809B-D03F-5664-F75A-8850316BB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EB076-5D10-C209-CD2D-7B2E96058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ABAB0-7112-4815-A879-0923CC5DDA3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3754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6F9FA8-6497-66EA-6AEA-8EB0ADE8FF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E18042-16A5-9540-3D8B-C69D643C31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DDBC8-A02D-20DA-DF3A-79D9FF970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6601C-7A90-40FF-9944-766AFCE986CC}" type="datetime1">
              <a:rPr lang="en-IN" smtClean="0"/>
              <a:t>22-10-2026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7FB76-F613-EFF7-85AA-5EE22755E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07031-98EF-A21C-AFEF-8A0F84C0B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ABAB0-7112-4815-A879-0923CC5DDA3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034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2A7382-AED5-5E37-BDB7-C57B00748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ACE15C-1ECB-FE5C-56E8-93C138ADB8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C4C4F-8D16-D124-F8F5-FDA3543217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2BAC2-A816-4FDC-82A6-F791E34B21EB}" type="datetime1">
              <a:rPr lang="en-IN" smtClean="0"/>
              <a:t>22-10-2026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9348E-6678-15EB-0172-BC0FBC5F2F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46CEE-C2A4-AF39-C013-B06A625830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ABAB0-7112-4815-A879-0923CC5DDA3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2928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5.png"/><Relationship Id="rId18" Type="http://schemas.openxmlformats.org/officeDocument/2006/relationships/image" Target="../media/image6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customXml" Target="../ink/ink7.xml"/><Relationship Id="rId17" Type="http://schemas.openxmlformats.org/officeDocument/2006/relationships/customXml" Target="../ink/ink11.xml"/><Relationship Id="rId2" Type="http://schemas.openxmlformats.org/officeDocument/2006/relationships/image" Target="../media/image1.png"/><Relationship Id="rId16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image" Target="../media/image4.png"/><Relationship Id="rId5" Type="http://schemas.openxmlformats.org/officeDocument/2006/relationships/customXml" Target="../ink/ink2.xml"/><Relationship Id="rId15" Type="http://schemas.openxmlformats.org/officeDocument/2006/relationships/customXml" Target="../ink/ink9.xml"/><Relationship Id="rId10" Type="http://schemas.openxmlformats.org/officeDocument/2006/relationships/customXml" Target="../ink/ink6.xml"/><Relationship Id="rId19" Type="http://schemas.openxmlformats.org/officeDocument/2006/relationships/customXml" Target="../ink/ink12.xml"/><Relationship Id="rId4" Type="http://schemas.openxmlformats.org/officeDocument/2006/relationships/image" Target="../media/image2.png"/><Relationship Id="rId9" Type="http://schemas.openxmlformats.org/officeDocument/2006/relationships/customXml" Target="../ink/ink5.xml"/><Relationship Id="rId14" Type="http://schemas.openxmlformats.org/officeDocument/2006/relationships/customXml" Target="../ink/ink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15511-8306-66FF-7E80-4C5667C382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3120" y="1122363"/>
            <a:ext cx="10535920" cy="1092517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002060"/>
                </a:solidFill>
                <a:latin typeface="+mn-lt"/>
              </a:rPr>
              <a:t>SaaS Sales, Discount and Profitability</a:t>
            </a:r>
            <a:r>
              <a:rPr lang="en-IN" sz="4000" b="1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A8C1DD-3322-D6C0-0EBF-F01A9AE041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6181" y="3429000"/>
            <a:ext cx="9144000" cy="1779638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Manju Suthar | Business Analyst portfolio project</a:t>
            </a:r>
          </a:p>
          <a:p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  Fictional company, public sample data</a:t>
            </a:r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A28B45-55EA-AE21-E86D-129FE7C71F21}"/>
              </a:ext>
            </a:extLst>
          </p:cNvPr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15B99-0D2E-B698-2CF7-CB0912B32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ABAB0-7112-4815-A879-0923CC5DDA3A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554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2F88F-4EA7-0364-209E-4726DE48E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2000"/>
            <a:ext cx="10515600" cy="1285876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rgbClr val="002060"/>
                </a:solidFill>
                <a:latin typeface="+mn-lt"/>
              </a:rPr>
              <a:t>Which products and segments make money, and where do discounts destroy profit?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9618C-519A-F085-493B-F14886E5E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11119"/>
            <a:ext cx="10515600" cy="3565843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Data: 9,994 order lines, 2020 to 2023, public sample for a fictional company</a:t>
            </a:r>
          </a:p>
          <a:p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Tools: Excel, SQL, Python, Power BI</a:t>
            </a:r>
          </a:p>
          <a:p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Output: 4-page dashboard, BRD and analysis report</a:t>
            </a:r>
            <a:endParaRPr lang="en-IN" sz="2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760877-4CC9-A939-8FFA-23EB99953D79}"/>
              </a:ext>
            </a:extLst>
          </p:cNvPr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28097-73FB-D304-C789-4EECF2CCB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ABAB0-7112-4815-A879-0923CC5DDA3A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420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9EEDB-F42D-A387-D1A0-99F801061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1650"/>
            <a:ext cx="10515600" cy="700087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rgbClr val="002060"/>
                </a:solidFill>
                <a:latin typeface="+mn-lt"/>
              </a:rPr>
              <a:t>Revenue is 2.3M, but only 12.5% reaches profit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6C4E0-A73A-B3B9-56CA-1932A50B6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7280"/>
            <a:ext cx="10515600" cy="5079682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Revenue 2,297,201 and profit 286,397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Average discount 15.6%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18.7% of order lines lose money</a:t>
            </a:r>
            <a:endParaRPr lang="en-IN" sz="16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EEC771-B27B-E375-C2DB-DB00A968188D}"/>
              </a:ext>
            </a:extLst>
          </p:cNvPr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28F2D5-664D-A24A-8466-183F8D918E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1920" y="2082800"/>
            <a:ext cx="8768080" cy="4775199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6815571-999E-507A-266B-72C51B189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ABAB0-7112-4815-A879-0923CC5DDA3A}" type="slidenum">
              <a:rPr lang="en-IN" smtClean="0"/>
              <a:t>3</a:t>
            </a:fld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7D784D5-4516-6DD2-1568-CDEDE9BF41D9}"/>
                  </a:ext>
                </a:extLst>
              </p14:cNvPr>
              <p14:cNvContentPartPr/>
              <p14:nvPr/>
            </p14:nvContentPartPr>
            <p14:xfrm>
              <a:off x="10159720" y="1909960"/>
              <a:ext cx="92880" cy="8377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7D784D5-4516-6DD2-1568-CDEDE9BF41D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70080" y="1729960"/>
                <a:ext cx="272520" cy="11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6156B8E-6B78-4C31-0B60-790925B4B55E}"/>
                  </a:ext>
                </a:extLst>
              </p14:cNvPr>
              <p14:cNvContentPartPr/>
              <p14:nvPr/>
            </p14:nvContentPartPr>
            <p14:xfrm>
              <a:off x="10200400" y="2722840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6156B8E-6B78-4C31-0B60-790925B4B55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110760" y="2542840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F33E8171-477E-FB28-E54D-12905CA132BF}"/>
                  </a:ext>
                </a:extLst>
              </p14:cNvPr>
              <p14:cNvContentPartPr/>
              <p14:nvPr/>
            </p14:nvContentPartPr>
            <p14:xfrm>
              <a:off x="10200400" y="2367160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F33E8171-477E-FB28-E54D-12905CA132B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110760" y="2187160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7A709E6-627D-8B5E-D052-4312B9593BF1}"/>
                  </a:ext>
                </a:extLst>
              </p14:cNvPr>
              <p14:cNvContentPartPr/>
              <p14:nvPr/>
            </p14:nvContentPartPr>
            <p14:xfrm>
              <a:off x="10200400" y="2367160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7A709E6-627D-8B5E-D052-4312B9593BF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110760" y="2187160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3804C42D-D95D-06BE-D981-1D82BFCB0F0A}"/>
                  </a:ext>
                </a:extLst>
              </p14:cNvPr>
              <p14:cNvContentPartPr/>
              <p14:nvPr/>
            </p14:nvContentPartPr>
            <p14:xfrm>
              <a:off x="10200400" y="2367160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3804C42D-D95D-06BE-D981-1D82BFCB0F0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110760" y="2187160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04FB39A-6736-B997-4619-E8D4D1F74CC2}"/>
                  </a:ext>
                </a:extLst>
              </p14:cNvPr>
              <p14:cNvContentPartPr/>
              <p14:nvPr/>
            </p14:nvContentPartPr>
            <p14:xfrm>
              <a:off x="10048480" y="1030120"/>
              <a:ext cx="2057400" cy="41893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04FB39A-6736-B997-4619-E8D4D1F74CC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958840" y="850480"/>
                <a:ext cx="2237040" cy="45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504EA13-7B6D-4A4E-34A8-5D4DFEA15525}"/>
                  </a:ext>
                </a:extLst>
              </p14:cNvPr>
              <p14:cNvContentPartPr/>
              <p14:nvPr/>
            </p14:nvContentPartPr>
            <p14:xfrm>
              <a:off x="10015000" y="3755680"/>
              <a:ext cx="114840" cy="7045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504EA13-7B6D-4A4E-34A8-5D4DFEA1552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925360" y="3576040"/>
                <a:ext cx="294480" cy="10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2647F58-CA0A-6468-2163-77EE4842AF7A}"/>
                  </a:ext>
                </a:extLst>
              </p14:cNvPr>
              <p14:cNvContentPartPr/>
              <p14:nvPr/>
            </p14:nvContentPartPr>
            <p14:xfrm>
              <a:off x="10098880" y="4084000"/>
              <a:ext cx="36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2647F58-CA0A-6468-2163-77EE4842AF7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008880" y="3904360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7A89E2B4-7FCD-AEF1-8A3E-4F09CFDB35F5}"/>
                  </a:ext>
                </a:extLst>
              </p14:cNvPr>
              <p14:cNvContentPartPr/>
              <p14:nvPr/>
            </p14:nvContentPartPr>
            <p14:xfrm>
              <a:off x="10098880" y="4084000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7A89E2B4-7FCD-AEF1-8A3E-4F09CFDB35F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008880" y="3904360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8065D1D6-30DC-2D1C-5879-0E057A58EC6A}"/>
                  </a:ext>
                </a:extLst>
              </p14:cNvPr>
              <p14:cNvContentPartPr/>
              <p14:nvPr/>
            </p14:nvContentPartPr>
            <p14:xfrm>
              <a:off x="10098880" y="4084000"/>
              <a:ext cx="36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8065D1D6-30DC-2D1C-5879-0E057A58EC6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008880" y="3904360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4AF5019A-C489-68CD-568A-1E04035710C4}"/>
                  </a:ext>
                </a:extLst>
              </p14:cNvPr>
              <p14:cNvContentPartPr/>
              <p14:nvPr/>
            </p14:nvContentPartPr>
            <p14:xfrm>
              <a:off x="10098880" y="2958280"/>
              <a:ext cx="745920" cy="11260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4AF5019A-C489-68CD-568A-1E04035710C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008880" y="2778640"/>
                <a:ext cx="925560" cy="148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1D03173E-BB80-7C1F-E3EC-AF6CEDD77215}"/>
                  </a:ext>
                </a:extLst>
              </p14:cNvPr>
              <p14:cNvContentPartPr/>
              <p14:nvPr/>
            </p14:nvContentPartPr>
            <p14:xfrm>
              <a:off x="10850560" y="2956480"/>
              <a:ext cx="36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1D03173E-BB80-7C1F-E3EC-AF6CEDD7721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760920" y="2776480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06472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D34-5350-8B88-6229-9A415201E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784202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rgbClr val="002060"/>
                </a:solidFill>
                <a:latin typeface="+mn-lt"/>
              </a:rPr>
              <a:t>Discounts above 20% lost 135,376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E1D66-93F3-2A9F-56C4-FDB51167B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6602"/>
            <a:ext cx="10515600" cy="5240362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Loss-making lines: 14.0% at 11-20% discount, 91.6% at 21-30%, 100% at 40%+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The 0% discount tier earned 321K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Spearman ρ = -0.54, Kruskal-Wallis p &lt; 0.001</a:t>
            </a:r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5C746C-719E-567B-97B8-CF2D54570884}"/>
              </a:ext>
            </a:extLst>
          </p:cNvPr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07D1C7-D5CF-BE98-386D-A21AC51048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1" y="1899920"/>
            <a:ext cx="9058274" cy="495808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06AF3CB-CC94-32C1-1F2B-724312AF3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ABAB0-7112-4815-A879-0923CC5DDA3A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1336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E7843-5337-4708-C479-D48914162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450"/>
            <a:ext cx="10515600" cy="771526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rgbClr val="002060"/>
                </a:solidFill>
                <a:latin typeface="+mn-lt"/>
              </a:rPr>
              <a:t>One product loses money; two have thin margins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9CA3D-7104-2375-428A-7E4E301F3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8676"/>
            <a:ext cx="10515600" cy="5348288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Marketing Suite: -3,473 (SMB: -4,436)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ContactMatcher: 3.0% margin at 35.3% average discount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Big OI Database: 1.8% margin at 30.6%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Alchemy earns most: 55,618 (37.2% margin)</a:t>
            </a:r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B3D2D7-CA9F-3216-5AAB-BBE7D0E0E677}"/>
              </a:ext>
            </a:extLst>
          </p:cNvPr>
          <p:cNvSpPr/>
          <p:nvPr/>
        </p:nvSpPr>
        <p:spPr>
          <a:xfrm>
            <a:off x="0" y="-1"/>
            <a:ext cx="12192000" cy="54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D6F7DD-4121-05F0-3F7C-1059CA2BDE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625" y="2123441"/>
            <a:ext cx="8943975" cy="473456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18B8A06-2E7E-C8D2-BCC2-3237A6A14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ABAB0-7112-4815-A879-0923CC5DDA3A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8883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6820A-FE72-AE5A-7405-787F604B6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7350"/>
            <a:ext cx="10515600" cy="765075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rgbClr val="002060"/>
                </a:solidFill>
                <a:latin typeface="+mn-lt"/>
              </a:rPr>
              <a:t>Profit is concentrated, and the bottom 10 customers all lose money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4516C-B6A3-7AB2-CFA2-513C01240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6299"/>
            <a:ext cx="10515600" cy="5300663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SMB is 47% of profit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Top 10 customers earn 77,437 (27%)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Bottom 10 customers lost 9,381 in total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99 customers, 2,893 profit per customer</a:t>
            </a:r>
            <a:endParaRPr lang="en-IN" sz="16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4D61B0-C79D-8F15-C118-92A55EFB6E93}"/>
              </a:ext>
            </a:extLst>
          </p:cNvPr>
          <p:cNvSpPr/>
          <p:nvPr/>
        </p:nvSpPr>
        <p:spPr>
          <a:xfrm>
            <a:off x="0" y="-1"/>
            <a:ext cx="12192000" cy="54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21F5AE-2079-455A-84AE-42C4906A22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" y="2174240"/>
            <a:ext cx="9182099" cy="468376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19617F1-3FEA-03D3-BE0D-E5FDA60CE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ABAB0-7112-4815-A879-0923CC5DDA3A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499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79EBB-D57D-A76E-87B8-7B801EB42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727835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rgbClr val="002060"/>
                </a:solidFill>
                <a:latin typeface="+mn-lt"/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CD847-CC55-5115-C61E-9F210AB69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45359"/>
            <a:ext cx="10515600" cy="3931603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Require approval for any discount above 20%</a:t>
            </a:r>
          </a:p>
          <a:p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Scenario: a 20% cap gives profit of about 421,773 to 505,588, against 286,397 today (a scenario, not a forecast)</a:t>
            </a:r>
          </a:p>
          <a:p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Review Marketing Suite pricing and the discounting on ContactMatcher and Big OI Database</a:t>
            </a:r>
          </a:p>
          <a:p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Review terms for the 10 loss-making customers</a:t>
            </a:r>
            <a:endParaRPr lang="en-IN" sz="2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447B11-80E8-CB19-304E-E3A57B878655}"/>
              </a:ext>
            </a:extLst>
          </p:cNvPr>
          <p:cNvSpPr/>
          <p:nvPr/>
        </p:nvSpPr>
        <p:spPr>
          <a:xfrm>
            <a:off x="0" y="-1"/>
            <a:ext cx="12192000" cy="54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01DDA-6578-2746-50C1-D4DFC90A7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ABAB0-7112-4815-A879-0923CC5DDA3A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8869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1BC71-BA89-6656-C60D-F37B750A6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914474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rgbClr val="002060"/>
                </a:solidFill>
                <a:latin typeface="+mn-lt"/>
              </a:rPr>
              <a:t>Method and limits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072FA-B52E-2C8C-4057-9193F20B4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87599"/>
            <a:ext cx="10515600" cy="3789363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Methods: correlation, Kruskal-Wallis test, linear regression (R² = 0.048), decision tree (splits at 25%)</a:t>
            </a:r>
          </a:p>
          <a:p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Sample data for a fictional company</a:t>
            </a:r>
          </a:p>
          <a:p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Association, not proof of cause</a:t>
            </a:r>
          </a:p>
          <a:p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The scenario assumes customers react as they did in the past</a:t>
            </a:r>
          </a:p>
          <a:p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0" indent="0">
              <a:buNone/>
            </a:pPr>
            <a:r>
              <a:rPr lang="en-IN" sz="1800" b="1" dirty="0"/>
              <a:t>Data: Amazon AWS SaaS Sales Dataset (Kaggle, nnthanh101), fictitious company.</a:t>
            </a:r>
            <a:endParaRPr lang="en-IN" sz="18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2B0F67-822B-0D18-11F9-F2000B403708}"/>
              </a:ext>
            </a:extLst>
          </p:cNvPr>
          <p:cNvSpPr/>
          <p:nvPr/>
        </p:nvSpPr>
        <p:spPr>
          <a:xfrm>
            <a:off x="0" y="-1"/>
            <a:ext cx="12192000" cy="54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9D7AA-C239-939F-1696-11B662338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ABAB0-7112-4815-A879-0923CC5DDA3A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507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353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SaaS Sales, Discount and Profitability </vt:lpstr>
      <vt:lpstr>Which products and segments make money, and where do discounts destroy profit?</vt:lpstr>
      <vt:lpstr>Revenue is 2.3M, but only 12.5% reaches profit</vt:lpstr>
      <vt:lpstr>Discounts above 20% lost 135,376</vt:lpstr>
      <vt:lpstr>One product loses money; two have thin margins</vt:lpstr>
      <vt:lpstr>Profit is concentrated, and the bottom 10 customers all lose money</vt:lpstr>
      <vt:lpstr>Recommendations</vt:lpstr>
      <vt:lpstr>Method and limits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Manju Suthar</dc:creator>
  <cp:lastModifiedBy>Manju Suthar</cp:lastModifiedBy>
  <cp:revision>3</cp:revision>
  <dcterms:created xsi:type="dcterms:W3CDTF">2026-10-20T20:12:51Z</dcterms:created>
  <dcterms:modified xsi:type="dcterms:W3CDTF">2026-10-22T03:38:45Z</dcterms:modified>
</cp:coreProperties>
</file>